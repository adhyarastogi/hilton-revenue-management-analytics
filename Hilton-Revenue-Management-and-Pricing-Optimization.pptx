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  <p:embeddedFont>
      <p:font typeface="Petrona Ligh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14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492746"/>
            <a:ext cx="1683097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1535237"/>
            <a:ext cx="19701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PROJECT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96119" y="1815852"/>
            <a:ext cx="4722763" cy="1395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Hilton Revenue Management &amp; Pricing Optimization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496119" y="3423940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50,000+ records · 5 analytical tables · Python · MySQL ·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209452"/>
            <a:ext cx="1043285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251942"/>
            <a:ext cx="13303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532558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Optimizing Hotel Performance Through Data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96119" y="2117303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2640" y="2263825"/>
            <a:ext cx="37119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High-Performing Rooms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2640" y="258142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top revenue categories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117303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9363" y="2263825"/>
            <a:ext cx="371199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Seasonal Demand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89363" y="258142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pricing opportunities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096518"/>
            <a:ext cx="4004965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640" y="3243039"/>
            <a:ext cx="371192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Position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2640" y="356063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Hilton's ADR vs market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096518"/>
            <a:ext cx="4005039" cy="837456"/>
          </a:xfrm>
          <a:prstGeom prst="roundRect">
            <a:avLst>
              <a:gd name="adj" fmla="val 711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3243039"/>
            <a:ext cx="371199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Guest Satisfaction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789363" y="356063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impact on booking value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6078"/>
            <a:ext cx="970136" cy="182761"/>
          </a:xfrm>
          <a:prstGeom prst="roundRect">
            <a:avLst>
              <a:gd name="adj" fmla="val 1954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59891" y="437927"/>
            <a:ext cx="1299790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620688"/>
            <a:ext cx="8151763" cy="279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Five Tables, One Story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36129"/>
            <a:ext cx="2684487" cy="268448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776" y="1109067"/>
            <a:ext cx="5207794" cy="6439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89586" y="133134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964037" y="1229618"/>
            <a:ext cx="456798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Bookings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964037" y="1483668"/>
            <a:ext cx="456798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Revenue, ADR, room type, channel, guest segment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776" y="1832744"/>
            <a:ext cx="5207794" cy="643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89586" y="205501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964037" y="1953295"/>
            <a:ext cx="456798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Hotel KPI Daily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964037" y="2207344"/>
            <a:ext cx="456798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Occupancy, seasonality, demand indicators</a:t>
            </a:r>
            <a:endParaRPr lang="en-US" sz="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776" y="2556421"/>
            <a:ext cx="5207794" cy="6439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89586" y="2778696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964037" y="2676971"/>
            <a:ext cx="456798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Competitor Pricing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964037" y="2931021"/>
            <a:ext cx="456798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ADR comparison</a:t>
            </a:r>
            <a:endParaRPr lang="en-US" sz="8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776" y="3280097"/>
            <a:ext cx="5207794" cy="64397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89586" y="3502372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964037" y="3400648"/>
            <a:ext cx="456798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Guest Reviews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3964037" y="3654698"/>
            <a:ext cx="456798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Ratings and customer sentiment</a:t>
            </a:r>
            <a:endParaRPr lang="en-US" sz="8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44776" y="4003774"/>
            <a:ext cx="5207794" cy="643979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89586" y="4226049"/>
            <a:ext cx="159469" cy="1993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3964037" y="4124325"/>
            <a:ext cx="4567982" cy="17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Market Events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3964037" y="4378375"/>
            <a:ext cx="4567982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 influencing demand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3273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15764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6379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Room Revenue &amp; Seasonal Performance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0594"/>
            <a:ext cx="4327773" cy="2970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74531" y="1522884"/>
            <a:ext cx="347803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174531" y="1897187"/>
            <a:ext cx="3478039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Ocean View Rooms: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$22.87M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revenue (28.92% of total) from 15,022 bookings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Suites: highest ADR at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$734.11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despite only 5,029 bookings — premium pricing potential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74531" y="3126879"/>
            <a:ext cx="3478039" cy="19050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174531" y="3340819"/>
            <a:ext cx="3478039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Season occupancy above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ADR reaching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$488.75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monthly revenue exceeding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$77M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Season revenue declined to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$24M–$27M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3273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15764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6379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Pricing Opportunities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0594"/>
            <a:ext cx="4327773" cy="2970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74531" y="1522884"/>
            <a:ext cx="347803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Pricing Strategy by Demand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55481" y="1895847"/>
            <a:ext cx="1669479" cy="1319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54389" y="1914897"/>
            <a:ext cx="147057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Increase ADR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354389" y="2289200"/>
            <a:ext cx="147057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High &amp; High demand periods — occupancy above 82%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3090" y="1895847"/>
            <a:ext cx="1669479" cy="13196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81999" y="1914897"/>
            <a:ext cx="147057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Maintain Pricing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7181999" y="2289200"/>
            <a:ext cx="147057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demand periods — 64-65% occupancy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55481" y="3460924"/>
            <a:ext cx="3497089" cy="8660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54389" y="3479974"/>
            <a:ext cx="329818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 &amp; Promote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5354389" y="3854276"/>
            <a:ext cx="329818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demand periods — 45% occupancy, $249.83 ADR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7183"/>
            <a:ext cx="965374" cy="260821"/>
          </a:xfrm>
          <a:prstGeom prst="roundRect">
            <a:avLst>
              <a:gd name="adj" fmla="val 1797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79834" y="479003"/>
            <a:ext cx="125514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2921"/>
            <a:ext cx="8151763" cy="366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Competitive Pricing Position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96119" y="1479724"/>
            <a:ext cx="3905696" cy="3072110"/>
          </a:xfrm>
          <a:prstGeom prst="roundRect">
            <a:avLst>
              <a:gd name="adj" fmla="val 19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104058"/>
            <a:ext cx="3905696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26010"/>
            <a:ext cx="3905696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347963"/>
            <a:ext cx="3905696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748460"/>
            <a:ext cx="3905696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4148956"/>
            <a:ext cx="3905696" cy="87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556" y="1571625"/>
            <a:ext cx="6949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14562" y="1571625"/>
            <a:ext cx="6949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 ADR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8568" y="1571625"/>
            <a:ext cx="6949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Hilton ADR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2573" y="1571625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556" y="2193578"/>
            <a:ext cx="6949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Marriott Waikiki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14562" y="2193578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$368.17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8568" y="2193578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2573" y="2193578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-$0.15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556" y="2815530"/>
            <a:ext cx="69495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Hyatt Regency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14562" y="281553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$368.15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88568" y="281553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$368.02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62573" y="281553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-$0.13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556" y="3437483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Outrigger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14562" y="3437483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$367.85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88568" y="3437483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$368.02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62573" y="3437483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+$0.18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556" y="383798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Sheraton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14562" y="383798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$367.48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88568" y="383798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$368.02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62573" y="3837980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+$0.55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556" y="4238476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Alohilani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14562" y="4238476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$367.11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588568" y="4238476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$368.02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62573" y="4238476"/>
            <a:ext cx="115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+$0.91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46947" y="1462608"/>
            <a:ext cx="3905696" cy="1263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Within ±$1 of all competitors</a:t>
            </a:r>
            <a:endParaRPr lang="en-US" sz="3950" dirty="0"/>
          </a:p>
        </p:txBody>
      </p:sp>
      <p:sp>
        <p:nvSpPr>
          <p:cNvPr id="36" name="Text 34"/>
          <p:cNvSpPr/>
          <p:nvPr/>
        </p:nvSpPr>
        <p:spPr>
          <a:xfrm>
            <a:off x="4746947" y="2863676"/>
            <a:ext cx="3905696" cy="100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Hilton's ADR of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$368.02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reflects a well-balanced, competitive pricing strategy across all major competitors.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Room-type pricing gaps remain within </a:t>
            </a: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$0.61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competitor ADRs — limited room for adjustment.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3273"/>
            <a:ext cx="980331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515764"/>
            <a:ext cx="126742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96379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Events Drive Revenue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40594"/>
            <a:ext cx="4327773" cy="2970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74531" y="1522884"/>
            <a:ext cx="347803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 Impact Highlights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174531" y="1897187"/>
            <a:ext cx="3478039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Independence Day: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89.95%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occupancy,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$492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 Festival: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90.68%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occupancy,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$478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 Competition: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83.66%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occupancy,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$434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74531" y="3027611"/>
            <a:ext cx="3478039" cy="19050"/>
          </a:xfrm>
          <a:prstGeom prst="roundRect">
            <a:avLst>
              <a:gd name="adj" fmla="val 6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174531" y="3241551"/>
            <a:ext cx="34780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events consistently drive both occupancy and ADR upward — prioritize for revenue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89793" cy="110430"/>
          </a:xfrm>
          <a:prstGeom prst="roundRect">
            <a:avLst>
              <a:gd name="adj" fmla="val 21567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862012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81517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Guest Satisfaction Drives Revenue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53591"/>
            <a:ext cx="8387531" cy="2904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6269" y="3777804"/>
            <a:ext cx="8151763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Satisfaction Scores by Category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426269" y="4217541"/>
            <a:ext cx="1701998" cy="88553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7729" y="4215792"/>
            <a:ext cx="1257721" cy="90302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</p:sp>
      <p:sp>
        <p:nvSpPr>
          <p:cNvPr id="9" name="Text 6"/>
          <p:cNvSpPr/>
          <p:nvPr/>
        </p:nvSpPr>
        <p:spPr>
          <a:xfrm>
            <a:off x="2202545" y="4244216"/>
            <a:ext cx="249585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3.72/5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26269" y="4457835"/>
            <a:ext cx="200471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Check-in Experience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25277" y="4574070"/>
            <a:ext cx="200471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rated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500834" y="4217541"/>
            <a:ext cx="1701998" cy="88553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00834" y="4217542"/>
            <a:ext cx="1201216" cy="88552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</p:sp>
      <p:sp>
        <p:nvSpPr>
          <p:cNvPr id="14" name="Text 11"/>
          <p:cNvSpPr/>
          <p:nvPr/>
        </p:nvSpPr>
        <p:spPr>
          <a:xfrm>
            <a:off x="4277320" y="4243744"/>
            <a:ext cx="249585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3.72/5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500834" y="4457834"/>
            <a:ext cx="200471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Cleanliness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491978" y="4557736"/>
            <a:ext cx="200471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4549825" y="4217541"/>
            <a:ext cx="1694706" cy="88553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49825" y="4217540"/>
            <a:ext cx="1050875" cy="88553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</p:sp>
      <p:sp>
        <p:nvSpPr>
          <p:cNvPr id="19" name="Text 16"/>
          <p:cNvSpPr/>
          <p:nvPr/>
        </p:nvSpPr>
        <p:spPr>
          <a:xfrm>
            <a:off x="6315373" y="4243743"/>
            <a:ext cx="256877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3.64/5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567535" y="4457092"/>
            <a:ext cx="200471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Food &amp; Dining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5399" y="4557736"/>
            <a:ext cx="2004715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opportunity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6643092" y="4217541"/>
            <a:ext cx="1688902" cy="88553"/>
          </a:xfrm>
          <a:prstGeom prst="roundRect">
            <a:avLst>
              <a:gd name="adj" fmla="val 3362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43092" y="4217542"/>
            <a:ext cx="1002308" cy="88552"/>
          </a:xfrm>
          <a:prstGeom prst="roundRect">
            <a:avLst>
              <a:gd name="adj" fmla="val 33620"/>
            </a:avLst>
          </a:prstGeom>
          <a:solidFill>
            <a:srgbClr val="007EBD"/>
          </a:solidFill>
          <a:ln/>
        </p:spPr>
      </p:sp>
      <p:sp>
        <p:nvSpPr>
          <p:cNvPr id="24" name="Text 21"/>
          <p:cNvSpPr/>
          <p:nvPr/>
        </p:nvSpPr>
        <p:spPr>
          <a:xfrm>
            <a:off x="8403333" y="4217467"/>
            <a:ext cx="262756" cy="88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3.66/5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643092" y="4457091"/>
            <a:ext cx="2004789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Location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643092" y="4581649"/>
            <a:ext cx="200478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Improvement opportunity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3845"/>
            <a:ext cx="1180207" cy="202629"/>
          </a:xfrm>
          <a:prstGeom prst="roundRect">
            <a:avLst>
              <a:gd name="adj" fmla="val 1910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65175" y="438373"/>
            <a:ext cx="1499295" cy="133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43905"/>
            <a:ext cx="8151763" cy="30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Revenue Management Dashboard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1144116"/>
            <a:ext cx="1950169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$79.1M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496119" y="1651918"/>
            <a:ext cx="195016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563267" y="1144116"/>
            <a:ext cx="1950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50K</a:t>
            </a:r>
            <a:endParaRPr lang="en-US" sz="2950" dirty="0"/>
          </a:p>
        </p:txBody>
      </p:sp>
      <p:sp>
        <p:nvSpPr>
          <p:cNvPr id="8" name="Text 6"/>
          <p:cNvSpPr/>
          <p:nvPr/>
        </p:nvSpPr>
        <p:spPr>
          <a:xfrm>
            <a:off x="2563267" y="1651918"/>
            <a:ext cx="195024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Bookings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30489" y="1144116"/>
            <a:ext cx="1950169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71.5%</a:t>
            </a:r>
            <a:endParaRPr lang="en-US" sz="2950" dirty="0"/>
          </a:p>
        </p:txBody>
      </p:sp>
      <p:sp>
        <p:nvSpPr>
          <p:cNvPr id="10" name="Text 8"/>
          <p:cNvSpPr/>
          <p:nvPr/>
        </p:nvSpPr>
        <p:spPr>
          <a:xfrm>
            <a:off x="4630489" y="1651918"/>
            <a:ext cx="195016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Occupancy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97638" y="1144116"/>
            <a:ext cx="1950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$368</a:t>
            </a:r>
            <a:endParaRPr lang="en-US" sz="2950" dirty="0"/>
          </a:p>
        </p:txBody>
      </p:sp>
      <p:sp>
        <p:nvSpPr>
          <p:cNvPr id="12" name="Text 10"/>
          <p:cNvSpPr/>
          <p:nvPr/>
        </p:nvSpPr>
        <p:spPr>
          <a:xfrm>
            <a:off x="6697638" y="1651918"/>
            <a:ext cx="195024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ADR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3267" y="2085603"/>
            <a:ext cx="1950244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3.7</a:t>
            </a:r>
            <a:endParaRPr lang="en-US" sz="2950" dirty="0"/>
          </a:p>
        </p:txBody>
      </p:sp>
      <p:sp>
        <p:nvSpPr>
          <p:cNvPr id="14" name="Text 12"/>
          <p:cNvSpPr/>
          <p:nvPr/>
        </p:nvSpPr>
        <p:spPr>
          <a:xfrm>
            <a:off x="2563267" y="2593404"/>
            <a:ext cx="195024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Guest Rating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30489" y="2085603"/>
            <a:ext cx="1950169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4.49</a:t>
            </a:r>
            <a:endParaRPr lang="en-US" sz="2950" dirty="0"/>
          </a:p>
        </p:txBody>
      </p:sp>
      <p:sp>
        <p:nvSpPr>
          <p:cNvPr id="16" name="Text 14"/>
          <p:cNvSpPr/>
          <p:nvPr/>
        </p:nvSpPr>
        <p:spPr>
          <a:xfrm>
            <a:off x="4630489" y="2593404"/>
            <a:ext cx="1950169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Avg Stay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6119" y="2922761"/>
            <a:ext cx="815176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Visualizations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6119" y="3252118"/>
            <a:ext cx="8151763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 Performance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Contribution by Booking Channel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Room Type &amp; Guest Segment</a:t>
            </a:r>
            <a:endParaRPr lang="en-US" sz="900" dirty="0"/>
          </a:p>
          <a:p>
            <a:pPr marL="182880" indent="-18288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Events Impact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6119" y="4152230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6119" y="4300463"/>
            <a:ext cx="8151763" cy="43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filters: Booking Month, Room Type, Season, Booking Channel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Website leads booking channels at </a:t>
            </a: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35.27%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revenue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38572"/>
            <a:ext cx="2231678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81063"/>
            <a:ext cx="251876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RECOMMENDATIONS &amp; 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61678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Data-Driven Revenue Strategy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74642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968326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07726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Pricing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96119" y="239486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ADR in peak periods; promote during low demand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60601" y="174642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968326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1" name="Text 9"/>
          <p:cNvSpPr/>
          <p:nvPr/>
        </p:nvSpPr>
        <p:spPr>
          <a:xfrm>
            <a:off x="3260601" y="207726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Premium Room Focus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260601" y="239486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Ocean View &amp; Suite revenue through targeted campaigns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25083" y="174642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083" y="1968326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6025083" y="207726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Event Strategies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25083" y="239486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pricing plans for Cultural Festivals, Expos, Surf Competitions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6119" y="309651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6119" y="3318421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427363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Competitor Benchmarking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96119" y="374496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Continuously monitor market pricing for new opportunities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42842" y="309651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2842" y="3318421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3" name="Text 21"/>
          <p:cNvSpPr/>
          <p:nvPr/>
        </p:nvSpPr>
        <p:spPr>
          <a:xfrm>
            <a:off x="4642842" y="3427363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Guest Experience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642842" y="3744962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reviews generate 4× the booking revenue of negative ones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532</Words>
  <Application>Microsoft Office PowerPoint</Application>
  <PresentationFormat>On-screen Show (16:9)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Arial</vt:lpstr>
      <vt:lpstr>Inter Bold</vt:lpstr>
      <vt:lpstr>Petrona Light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Tanmay Rastogi(00003885618)</cp:lastModifiedBy>
  <cp:revision>2</cp:revision>
  <dcterms:created xsi:type="dcterms:W3CDTF">2026-07-08T19:09:57Z</dcterms:created>
  <dcterms:modified xsi:type="dcterms:W3CDTF">2026-07-08T19:16:27Z</dcterms:modified>
</cp:coreProperties>
</file>